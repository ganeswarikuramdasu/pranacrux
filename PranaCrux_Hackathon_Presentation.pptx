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-2468880"/>
            <a:ext cx="6583680" cy="6583680"/>
          </a:xfrm>
          <a:prstGeom prst="ellipse">
            <a:avLst/>
          </a:prstGeom>
          <a:noFill/>
          <a:ln w="12700">
            <a:solidFill>
              <a:srgbClr val="142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89059" y="-1217980"/>
            <a:ext cx="4081881" cy="4081881"/>
          </a:xfrm>
          <a:prstGeom prst="ellipse">
            <a:avLst/>
          </a:prstGeom>
          <a:noFill/>
          <a:ln w="9525">
            <a:solidFill>
              <a:srgbClr val="142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83280" y="6035040"/>
            <a:ext cx="5486400" cy="5486400"/>
          </a:xfrm>
          <a:prstGeom prst="ellipse">
            <a:avLst/>
          </a:prstGeom>
          <a:noFill/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25696" y="7077456"/>
            <a:ext cx="3401568" cy="3401568"/>
          </a:xfrm>
          <a:prstGeom prst="ellipse">
            <a:avLst/>
          </a:prstGeom>
          <a:noFill/>
          <a:ln w="9525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73736" cy="6858000"/>
          </a:xfrm>
          <a:prstGeom prst="roundRect">
            <a:avLst>
              <a:gd name="adj" fmla="val 6000"/>
            </a:avLst>
          </a:prstGeom>
          <a:solidFill>
            <a:srgbClr val="176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0"/>
            <a:ext cx="4736592" cy="6858000"/>
          </a:xfrm>
          <a:prstGeom prst="roundRect">
            <a:avLst>
              <a:gd name="adj" fmla="val 6000"/>
            </a:avLst>
          </a:prstGeom>
          <a:solidFill>
            <a:srgbClr val="0C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HACKATHON  · 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600" b="1">
                <a:solidFill>
                  <a:srgbClr val="FFFFFF"/>
                </a:solidFill>
                <a:latin typeface="Segoe UI"/>
              </a:rPr>
              <a:t>PranaCrux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3172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>
                <a:solidFill>
                  <a:srgbClr val="22D3EE"/>
                </a:solidFill>
                <a:latin typeface="Segoe UI"/>
              </a:rPr>
              <a:t>Digital Health Identity &amp; Emergency Access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07792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9AA7C7"/>
                </a:solidFill>
                <a:latin typeface="Segoe UI"/>
              </a:rPr>
              <a:t>“Critical health information, available when it matters most.”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1" y="3520439"/>
            <a:ext cx="145846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One Health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7148" y="3520439"/>
            <a:ext cx="173278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Controlled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3520439"/>
            <a:ext cx="159562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Emergency 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7900" y="3520439"/>
            <a:ext cx="159562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Audit Traceable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051560"/>
            <a:ext cx="4069080" cy="2542032"/>
          </a:xfrm>
          <a:prstGeom prst="roundRect">
            <a:avLst>
              <a:gd name="adj" fmla="val 3000"/>
            </a:avLst>
          </a:prstGeom>
          <a:solidFill>
            <a:srgbClr val="121B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1115568"/>
            <a:ext cx="3941064" cy="246316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26679" y="365760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B7AA5"/>
                </a:solidFill>
                <a:latin typeface="Segoe UI"/>
              </a:rPr>
              <a:t>Live product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07492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One digital identity.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9AA7C7"/>
                </a:solidFill>
                <a:latin typeface="Segoe UI"/>
              </a:rPr>
              <a:t>Relevant information, shown only to authorized roles, every access traceable.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In a medical emergency, the biggest problem can be the information gap.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93392"/>
            <a:ext cx="224028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Accident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1122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993392"/>
            <a:ext cx="224028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Unconscious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0992" y="21122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993392"/>
            <a:ext cx="224028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Doctor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1122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4" y="1993392"/>
            <a:ext cx="224028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Missing Medical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6172200" cy="146304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7" y="3355848"/>
            <a:ext cx="512064" cy="512064"/>
          </a:xfrm>
          <a:prstGeom prst="ellipse">
            <a:avLst/>
          </a:prstGeom>
          <a:solidFill>
            <a:srgbClr val="121B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1181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Fragmented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20439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Health data is scattered across hospitals, labs, and paper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80360"/>
            <a:ext cx="6172200" cy="146304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3355848"/>
            <a:ext cx="512064" cy="512064"/>
          </a:xfrm>
          <a:prstGeom prst="ellipse">
            <a:avLst/>
          </a:prstGeom>
          <a:solidFill>
            <a:srgbClr val="121B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1181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Emergency Information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3520439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An unconscious patient cannot communicate critical medical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6172200" cy="146304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7" y="5001768"/>
            <a:ext cx="512064" cy="512064"/>
          </a:xfrm>
          <a:prstGeom prst="ellipse">
            <a:avLst/>
          </a:prstGeom>
          <a:solidFill>
            <a:srgbClr val="121B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7640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Delayed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16636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Doctors may not know medications, labs, vitals, or conditions in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80"/>
            <a:ext cx="6172200" cy="146304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19088" y="5001768"/>
            <a:ext cx="512064" cy="512064"/>
          </a:xfrm>
          <a:prstGeom prst="ellipse">
            <a:avLst/>
          </a:prstGeom>
          <a:solidFill>
            <a:srgbClr val="121B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47640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Lack of Accountability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516636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Sensitive data needs controlled and fully traceable access.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Meet PranaCrux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One identity.  Relevant information.  Controlled access.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32504" y="3886200"/>
            <a:ext cx="1042416" cy="0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11980" y="3694176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Patient Profile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30266" y="4505879"/>
            <a:ext cx="641775" cy="821435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9101" y="513529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Medical Records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803693" y="4649225"/>
            <a:ext cx="252183" cy="1011451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40753" y="546865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Lab Reports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575428" y="4206051"/>
            <a:ext cx="952294" cy="42398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212" y="4438015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Vitals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1631385" y="3027630"/>
            <a:ext cx="920399" cy="489385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8445" y="2835606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Medications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2928552" y="2085183"/>
            <a:ext cx="181013" cy="102657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65612" y="1893159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Appointments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772313" y="2527136"/>
            <a:ext cx="697513" cy="774666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06886" y="233511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Emergency Access</a:t>
            </a:r>
          </a:p>
        </p:txBody>
      </p:sp>
      <p:sp>
        <p:nvSpPr>
          <p:cNvPr id="21" name="Oval 20"/>
          <p:cNvSpPr/>
          <p:nvPr/>
        </p:nvSpPr>
        <p:spPr>
          <a:xfrm>
            <a:off x="2459736" y="3099816"/>
            <a:ext cx="1572768" cy="1572768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ONE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DIGITAL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HEALTH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627632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81051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6B7AA5"/>
                </a:solidFill>
                <a:latin typeface="Segoe UI"/>
              </a:rPr>
              <a:t>FROM FRAGMENTED  →  UNIFIED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240280"/>
            <a:ext cx="1572768" cy="1051560"/>
          </a:xfrm>
          <a:prstGeom prst="roundRect">
            <a:avLst>
              <a:gd name="adj" fmla="val 10000"/>
            </a:avLst>
          </a:prstGeom>
          <a:solidFill>
            <a:srgbClr val="121B3E"/>
          </a:solidFill>
          <a:ln w="1524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Fragmented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4185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4152" y="2240280"/>
            <a:ext cx="1572768" cy="1051560"/>
          </a:xfrm>
          <a:prstGeom prst="roundRect">
            <a:avLst>
              <a:gd name="adj" fmla="val 10000"/>
            </a:avLst>
          </a:prstGeom>
          <a:solidFill>
            <a:srgbClr val="142F55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PranaCrux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4185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93224" y="2240280"/>
            <a:ext cx="1572768" cy="1051560"/>
          </a:xfrm>
          <a:prstGeom prst="roundRect">
            <a:avLst>
              <a:gd name="adj" fmla="val 10000"/>
            </a:avLst>
          </a:prstGeom>
          <a:solidFill>
            <a:srgbClr val="121B3E"/>
          </a:solidFill>
          <a:ln w="1524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Unified Digital Health Identity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822191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8678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EMERGENCY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443984"/>
            <a:ext cx="1170432" cy="65836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Emergency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0064" y="4608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71816" y="4443984"/>
            <a:ext cx="1170432" cy="65836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608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552" y="4443984"/>
            <a:ext cx="1170432" cy="65836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Essential 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4608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05288" y="4443984"/>
            <a:ext cx="1170432" cy="65836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23036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AA7C7"/>
                </a:solidFill>
                <a:latin typeface="Segoe UI"/>
              </a:rPr>
              <a:t>Designed for the moment a patient cannot speak for themselves.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THE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Patients &amp; Doctors — One Controlled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141990" y="2680408"/>
            <a:ext cx="472213" cy="88810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538486" y="2497528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Global Health ID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978806" y="2520205"/>
            <a:ext cx="174662" cy="99055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49964" y="2337325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Profile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301669" y="3016692"/>
            <a:ext cx="747485" cy="67303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45650" y="2833812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Appointments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47288" y="4069080"/>
            <a:ext cx="1005840" cy="0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49624" y="388620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Medical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01669" y="4448428"/>
            <a:ext cx="747485" cy="67303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45650" y="4938587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Lab Reports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8806" y="4627395"/>
            <a:ext cx="174662" cy="99055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49964" y="5435074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Vitals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141990" y="4569647"/>
            <a:ext cx="472213" cy="88810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38486" y="5274871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Medications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07592" y="4069080"/>
            <a:ext cx="1005840" cy="0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4087" y="388620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Emergency Card</a:t>
            </a:r>
          </a:p>
        </p:txBody>
      </p:sp>
      <p:sp>
        <p:nvSpPr>
          <p:cNvPr id="22" name="Oval 21"/>
          <p:cNvSpPr/>
          <p:nvPr/>
        </p:nvSpPr>
        <p:spPr>
          <a:xfrm>
            <a:off x="2313432" y="3502152"/>
            <a:ext cx="1133856" cy="1133856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2313432" y="3502152"/>
            <a:ext cx="1133856" cy="1133856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PATIENT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8542790" y="2680408"/>
            <a:ext cx="472213" cy="88810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39286" y="2497528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Patient Search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379606" y="2520205"/>
            <a:ext cx="174662" cy="99055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50764" y="2337325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Authorized Records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9702469" y="3016692"/>
            <a:ext cx="747485" cy="67303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46450" y="2833812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Lab Reports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48088" y="4069080"/>
            <a:ext cx="1005840" cy="0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50424" y="388620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Vitals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02469" y="4448428"/>
            <a:ext cx="747485" cy="67303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46450" y="4938587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Medications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79606" y="4627395"/>
            <a:ext cx="174662" cy="99055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50764" y="5435074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Appointments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8542790" y="4569647"/>
            <a:ext cx="472213" cy="88810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939286" y="5274871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Schedule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708392" y="4069080"/>
            <a:ext cx="1005840" cy="0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04888" y="388620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Access History</a:t>
            </a:r>
          </a:p>
        </p:txBody>
      </p:sp>
      <p:sp>
        <p:nvSpPr>
          <p:cNvPr id="40" name="Oval 39"/>
          <p:cNvSpPr/>
          <p:nvPr/>
        </p:nvSpPr>
        <p:spPr>
          <a:xfrm>
            <a:off x="8714232" y="3502152"/>
            <a:ext cx="1133856" cy="1133856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8714232" y="3502152"/>
            <a:ext cx="1133856" cy="1133856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DOCTOR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03320" y="4069080"/>
            <a:ext cx="3657600" cy="0"/>
          </a:xfrm>
          <a:prstGeom prst="line">
            <a:avLst/>
          </a:prstGeom>
          <a:ln w="1524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00600" y="3886200"/>
            <a:ext cx="2560320" cy="0"/>
          </a:xfrm>
          <a:prstGeom prst="line">
            <a:avLst/>
          </a:prstGeom>
          <a:ln w="9525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800600" y="4251960"/>
            <a:ext cx="2560320" cy="0"/>
          </a:xfrm>
          <a:prstGeom prst="line">
            <a:avLst/>
          </a:prstGeom>
          <a:ln w="9525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983480" y="3310128"/>
            <a:ext cx="2240280" cy="1517904"/>
          </a:xfrm>
          <a:prstGeom prst="roundRect">
            <a:avLst>
              <a:gd name="adj" fmla="val 12000"/>
            </a:avLst>
          </a:prstGeom>
          <a:solidFill>
            <a:srgbClr val="0E15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CONTROLLED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HEALTH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INFORMATION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9560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B7AA5"/>
                </a:solidFill>
                <a:latin typeface="Segoe UI"/>
              </a:rPr>
              <a:t>Patient  →  Authorized Access  →  Doctor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Doctors &amp; Hospital Admins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33007" y="3838991"/>
            <a:ext cx="790515" cy="287723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60582" y="3943834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Manage Schedule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734" y="4179894"/>
            <a:ext cx="146081" cy="82846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09875" y="4825482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Patient Lookup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783933" y="3998503"/>
            <a:ext cx="644433" cy="54074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20993" y="4356367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View Records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545757" y="3188485"/>
            <a:ext cx="790515" cy="287723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817" y="3005605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Update Medical Data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596464" y="2306837"/>
            <a:ext cx="146081" cy="82846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33524" y="2123957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Appointments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240913" y="2775952"/>
            <a:ext cx="644433" cy="54074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22406" y="2593072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Access History</a:t>
            </a:r>
          </a:p>
        </p:txBody>
      </p:sp>
      <p:sp>
        <p:nvSpPr>
          <p:cNvPr id="18" name="Oval 17"/>
          <p:cNvSpPr/>
          <p:nvPr/>
        </p:nvSpPr>
        <p:spPr>
          <a:xfrm>
            <a:off x="2304288" y="3127248"/>
            <a:ext cx="1060704" cy="1060704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2304288" y="3127248"/>
            <a:ext cx="1060704" cy="1060704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DOCTOR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0967" y="3838991"/>
            <a:ext cx="790515" cy="287723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98542" y="3943834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Hospital Management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64694" y="4179894"/>
            <a:ext cx="146081" cy="82846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47835" y="4825482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Doctor Management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321893" y="3998503"/>
            <a:ext cx="644433" cy="54074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58953" y="4356367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Scoped Access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8083717" y="3188485"/>
            <a:ext cx="790515" cy="287723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20777" y="3005605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Operational Oversight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9134424" y="2306837"/>
            <a:ext cx="146081" cy="82846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71484" y="2123957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Access Monitoring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778873" y="2775952"/>
            <a:ext cx="644433" cy="540744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60366" y="2593072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143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Hospital Records</a:t>
            </a:r>
          </a:p>
        </p:txBody>
      </p:sp>
      <p:sp>
        <p:nvSpPr>
          <p:cNvPr id="32" name="Oval 31"/>
          <p:cNvSpPr/>
          <p:nvPr/>
        </p:nvSpPr>
        <p:spPr>
          <a:xfrm>
            <a:off x="8842248" y="3127248"/>
            <a:ext cx="1060704" cy="1060704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8842248" y="3127248"/>
            <a:ext cx="1060704" cy="1060704"/>
          </a:xfrm>
          <a:prstGeom prst="ellipse">
            <a:avLst/>
          </a:prstGeom>
          <a:solidFill>
            <a:srgbClr val="121B3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HOSPITAL
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6B7AA5"/>
                </a:solidFill>
                <a:latin typeface="Segoe UI"/>
              </a:rPr>
              <a:t>PLATFORM HIERARCHY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96128"/>
            <a:ext cx="1371600" cy="548640"/>
          </a:xfrm>
          <a:prstGeom prst="roundRect">
            <a:avLst>
              <a:gd name="adj" fmla="val 25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PranaCrux</a:t>
            </a:r>
            <a:r>
              <a:rPr sz="800" b="0">
                <a:solidFill>
                  <a:srgbClr val="6B7AA5"/>
                </a:solidFill>
                <a:latin typeface="Segoe UI"/>
              </a:rPr>
              <a:t>
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83664" y="55229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04288" y="5596128"/>
            <a:ext cx="1371600" cy="548640"/>
          </a:xfrm>
          <a:prstGeom prst="roundRect">
            <a:avLst>
              <a:gd name="adj" fmla="val 25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Hospital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9311" y="55229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59935" y="5596128"/>
            <a:ext cx="1371600" cy="548640"/>
          </a:xfrm>
          <a:prstGeom prst="roundRect">
            <a:avLst>
              <a:gd name="adj" fmla="val 25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Doctors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59" y="55229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15583" y="5596128"/>
            <a:ext cx="1371600" cy="548640"/>
          </a:xfrm>
          <a:prstGeom prst="roundRect">
            <a:avLst>
              <a:gd name="adj" fmla="val 25000"/>
            </a:avLst>
          </a:prstGeom>
          <a:solidFill>
            <a:srgbClr val="121B3E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Patients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59612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Hospital access is scoped to its own context — never platform-wide.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Technology Behind PranaCrux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5760720" cy="1078992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82296" cy="1078992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90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2140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React 19  ·  TypeScript  · 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06623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7797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REST /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760720" cy="1078992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82296" cy="1078992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346704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3B82F6"/>
                </a:solidFill>
                <a:latin typeface="Segoe U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749039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Java 17  ·  Spring Boot 3  ·  REST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3425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40740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JPA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28032"/>
            <a:ext cx="5760720" cy="1078992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828032"/>
            <a:ext cx="82296" cy="1078992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97433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376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MySQL  ·  JPA / Hibernate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572768"/>
            <a:ext cx="4937760" cy="169164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175564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INFRASTRUCTURE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80859" y="2020824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3591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9AA7C7"/>
                </a:solidFill>
                <a:latin typeface="Segoe UI"/>
              </a:rPr>
              <a:t>Frontend hosting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2580" y="2020824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23591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9AA7C7"/>
                </a:solidFill>
                <a:latin typeface="Segoe UI"/>
              </a:rPr>
              <a:t>Backend hosting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0859" y="2496312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Cloud 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8346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9AA7C7"/>
                </a:solidFill>
                <a:latin typeface="Segoe UI"/>
              </a:rPr>
              <a:t>Managed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12580" y="2496312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9525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Brevo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19" y="28346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9AA7C7"/>
                </a:solidFill>
                <a:latin typeface="Segoe UI"/>
              </a:rPr>
              <a:t>Email verification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520440"/>
            <a:ext cx="4937760" cy="265176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0332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CORE CONCEPTS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1605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Role-based access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55371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Authentication &amp; consent-gated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946903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Audit logging for every sensitive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340095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QR-based emergency access 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733287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Relational data model (patients ↔ doctors ↔ hospitals)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WHY IT'S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Innovation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760720" cy="155448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39112"/>
            <a:ext cx="493776" cy="493776"/>
          </a:xfrm>
          <a:prstGeom prst="ellipse">
            <a:avLst/>
          </a:prstGeom>
          <a:solidFill>
            <a:srgbClr val="121B3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2821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Emergency-First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39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Critical health information is reachable when the patient cannot communicate.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5760720" cy="155448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2039112"/>
            <a:ext cx="493776" cy="493776"/>
          </a:xfrm>
          <a:prstGeom prst="ellipse">
            <a:avLst/>
          </a:prstGeom>
          <a:solidFill>
            <a:srgbClr val="121B3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72821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Controlled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148839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Access is role-based and context-aware — never an open record dump.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39"/>
            <a:ext cx="5760720" cy="155448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22191"/>
            <a:ext cx="493776" cy="493776"/>
          </a:xfrm>
          <a:prstGeom prst="ellipse">
            <a:avLst/>
          </a:prstGeom>
          <a:solidFill>
            <a:srgbClr val="121B3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B82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1129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One Health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3192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A single digital ID connects records, labs, vitals, meds, and appointments.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91839"/>
            <a:ext cx="5760720" cy="155448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3822191"/>
            <a:ext cx="493776" cy="493776"/>
          </a:xfrm>
          <a:prstGeom prst="ellipse">
            <a:avLst/>
          </a:prstGeom>
          <a:solidFill>
            <a:srgbClr val="121B3E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51129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Accountable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93192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7C7"/>
                </a:solidFill>
                <a:latin typeface="Segoe UI"/>
              </a:rPr>
              <a:t>Every sensitive access leaves an audit trail — who, what, when, how.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6B7AA5"/>
                </a:solidFill>
                <a:latin typeface="Segoe UI"/>
              </a:rPr>
              <a:t>SCALABILITY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1554480" cy="548640"/>
          </a:xfrm>
          <a:prstGeom prst="roundRect">
            <a:avLst>
              <a:gd name="adj" fmla="val 25000"/>
            </a:avLst>
          </a:prstGeom>
          <a:solidFill>
            <a:srgbClr val="121B3E"/>
          </a:solidFill>
          <a:ln w="1397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Patient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3675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5440680"/>
            <a:ext cx="1554480" cy="548640"/>
          </a:xfrm>
          <a:prstGeom prst="roundRect">
            <a:avLst>
              <a:gd name="adj" fmla="val 25000"/>
            </a:avLst>
          </a:prstGeom>
          <a:solidFill>
            <a:srgbClr val="121B3E"/>
          </a:solidFill>
          <a:ln w="1397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Doctor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675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440680"/>
            <a:ext cx="1554480" cy="548640"/>
          </a:xfrm>
          <a:prstGeom prst="roundRect">
            <a:avLst>
              <a:gd name="adj" fmla="val 25000"/>
            </a:avLst>
          </a:prstGeom>
          <a:solidFill>
            <a:srgbClr val="121B3E"/>
          </a:solidFill>
          <a:ln w="1397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Hospital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3675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440680"/>
            <a:ext cx="1554480" cy="548640"/>
          </a:xfrm>
          <a:prstGeom prst="roundRect">
            <a:avLst>
              <a:gd name="adj" fmla="val 25000"/>
            </a:avLst>
          </a:prstGeom>
          <a:solidFill>
            <a:srgbClr val="0C122E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34D399"/>
                </a:solidFill>
                <a:latin typeface="Segoe UI"/>
              </a:rPr>
              <a:t>Healthcare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440680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Wider healthcare integration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AA7C7"/>
                </a:solidFill>
                <a:latin typeface="Segoe UI"/>
              </a:rPr>
              <a:t>is designed-in future scalability — not current functionality.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What's Next for PranaCrux?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4343400"/>
          </a:xfrm>
          <a:prstGeom prst="roundRect">
            <a:avLst>
              <a:gd name="adj" fmla="val 9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8229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830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AA7C7"/>
                </a:solidFill>
                <a:latin typeface="Segoe UI"/>
              </a:rPr>
              <a:t>What today's prototype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70048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Unified digital health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36976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Role-based controlled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03904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Emergency access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70832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Full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54864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22D3EE"/>
                </a:solidFill>
                <a:latin typeface="Segoe UI"/>
              </a:rPr>
              <a:t>LIVE AND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1554480"/>
            <a:ext cx="3611880" cy="4343400"/>
          </a:xfrm>
          <a:prstGeom prst="roundRect">
            <a:avLst>
              <a:gd name="adj" fmla="val 9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25696" y="1554480"/>
            <a:ext cx="3611880" cy="822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7830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3B82F6"/>
                </a:solidFill>
                <a:latin typeface="Segoe U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2128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AA7C7"/>
                </a:solidFill>
                <a:latin typeface="Segoe UI"/>
              </a:rPr>
              <a:t>Planned near-term enhancements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670048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B82F6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Hospital &amp; healthcare-system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3236976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B82F6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Standardized interoperability (HL7 / FHIR)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803904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B82F6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Advanced identity verification (biometrics, KYC)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4370832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B82F6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Dedicated mobile application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4864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3B82F6"/>
                </a:solidFill>
                <a:latin typeface="Segoe UI"/>
              </a:rPr>
              <a:t>FUTURE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1554480"/>
            <a:ext cx="3611880" cy="4343400"/>
          </a:xfrm>
          <a:prstGeom prst="roundRect">
            <a:avLst>
              <a:gd name="adj" fmla="val 9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02752" y="1554480"/>
            <a:ext cx="3611880" cy="82296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17830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22128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AA7C7"/>
                </a:solidFill>
                <a:latin typeface="Segoe UI"/>
              </a:rPr>
              <a:t>Long-term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2670048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Analytics &amp; 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3236976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Wider emergency responder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803904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Interoperable healthcare 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4370832"/>
            <a:ext cx="3154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●  </a:t>
            </a:r>
            <a:r>
              <a:rPr sz="1150" b="0">
                <a:solidFill>
                  <a:srgbClr val="FFFFFF"/>
                </a:solidFill>
                <a:latin typeface="Segoe UI"/>
              </a:rPr>
              <a:t>Population health insights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58784" y="54864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FUTURE 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533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B7AA5"/>
                </a:solidFill>
                <a:latin typeface="Segoe UI"/>
              </a:rPr>
              <a:t>Built phase-by-phase so each enhancement extends the core — no redesign required.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When Seconds Matter, Information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207008"/>
            <a:ext cx="777240" cy="36576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5560" y="365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B7AA5"/>
                </a:solidFill>
                <a:latin typeface="Segoe UI"/>
              </a:rPr>
              <a:t>PRANACRUX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126480" cy="548640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> </a:t>
            </a:r>
          </a:p>
        </p:txBody>
      </p:sp>
      <p:sp>
        <p:nvSpPr>
          <p:cNvPr id="7" name="Oval 6"/>
          <p:cNvSpPr/>
          <p:nvPr/>
        </p:nvSpPr>
        <p:spPr>
          <a:xfrm>
            <a:off x="667512" y="1490472"/>
            <a:ext cx="402336" cy="402336"/>
          </a:xfrm>
          <a:prstGeom prst="ellipse">
            <a:avLst/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1417320"/>
            <a:ext cx="5394960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FFFFFF"/>
                </a:solidFill>
                <a:latin typeface="Segoe UI"/>
              </a:rPr>
              <a:t>   Unconscious patient arrives at the hospital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1965960"/>
            <a:ext cx="0" cy="20116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075688"/>
            <a:ext cx="6126480" cy="548640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> 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" y="2148839"/>
            <a:ext cx="402336" cy="402336"/>
          </a:xfrm>
          <a:prstGeom prst="ellipse">
            <a:avLst/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2075688"/>
            <a:ext cx="5394960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FFFFFF"/>
                </a:solidFill>
                <a:latin typeface="Segoe UI"/>
              </a:rPr>
              <a:t>   Patient cannot explain medical history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2624328"/>
            <a:ext cx="0" cy="20116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734056"/>
            <a:ext cx="6126480" cy="548640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> 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" y="2807208"/>
            <a:ext cx="402336" cy="402336"/>
          </a:xfrm>
          <a:prstGeom prst="ellipse">
            <a:avLst/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2734056"/>
            <a:ext cx="5394960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FFFFFF"/>
                </a:solidFill>
                <a:latin typeface="Segoe UI"/>
              </a:rPr>
              <a:t>   PranaCrux emergency access is initiated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282696"/>
            <a:ext cx="0" cy="201168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3392424"/>
            <a:ext cx="6126480" cy="548640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> 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" y="3465575"/>
            <a:ext cx="402336" cy="402336"/>
          </a:xfrm>
          <a:prstGeom prst="ellipse">
            <a:avLst/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0432" y="3392424"/>
            <a:ext cx="5394960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FFFFFF"/>
                </a:solidFill>
                <a:latin typeface="Segoe UI"/>
              </a:rPr>
              <a:t>   Identity is verified securely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3941063"/>
            <a:ext cx="0" cy="20116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4050791"/>
            <a:ext cx="6126480" cy="548640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> 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" y="4123944"/>
            <a:ext cx="402336" cy="402336"/>
          </a:xfrm>
          <a:prstGeom prst="ellipse">
            <a:avLst/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050791"/>
            <a:ext cx="5394960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FFFFFF"/>
                </a:solidFill>
                <a:latin typeface="Segoe UI"/>
              </a:rPr>
              <a:t>   Essential health information is revealed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66160" y="4599431"/>
            <a:ext cx="0" cy="20116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4709159"/>
            <a:ext cx="6126480" cy="548640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> 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" y="4782312"/>
            <a:ext cx="402336" cy="402336"/>
          </a:xfrm>
          <a:prstGeom prst="ellipse">
            <a:avLst/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0432" y="4709159"/>
            <a:ext cx="5394960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FFFFFF"/>
                </a:solidFill>
                <a:latin typeface="Segoe UI"/>
              </a:rPr>
              <a:t>   Doctor makes an informed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66160" y="5257799"/>
            <a:ext cx="0" cy="201169"/>
          </a:xfrm>
          <a:prstGeom prst="line">
            <a:avLst/>
          </a:prstGeom>
          <a:ln w="12700">
            <a:solidFill>
              <a:srgbClr val="2E3F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5367527"/>
            <a:ext cx="6126480" cy="548640"/>
          </a:xfrm>
          <a:prstGeom prst="roundRect">
            <a:avLst>
              <a:gd name="adj" fmla="val 50000"/>
            </a:avLst>
          </a:prstGeom>
          <a:solidFill>
            <a:srgbClr val="0E1530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" b="0">
                <a:solidFill>
                  <a:srgbClr val="FFFFFF"/>
                </a:solidFill>
                <a:latin typeface="Segoe UI"/>
              </a:rPr>
              <a:t> 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" y="5440679"/>
            <a:ext cx="402336" cy="402336"/>
          </a:xfrm>
          <a:prstGeom prst="ellipse">
            <a:avLst/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70432" y="5367527"/>
            <a:ext cx="5394960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FFFFFF"/>
                </a:solidFill>
                <a:latin typeface="Segoe UI"/>
              </a:rPr>
              <a:t>   Every access is logged &amp; auditable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1600200"/>
            <a:ext cx="4572000" cy="320040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192024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Fast access does not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34D399"/>
                </a:solidFill>
                <a:latin typeface="Segoe UI"/>
              </a:rPr>
              <a:t>mean uncontrolled access.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0632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6B7AA5"/>
                </a:solidFill>
                <a:latin typeface="Segoe UI"/>
              </a:rPr>
              <a:t>THE PRANACRUX PRINCIPLE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3520440"/>
            <a:ext cx="96012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Emergency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3474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21624" y="3520440"/>
            <a:ext cx="96012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3474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36608" y="3520440"/>
            <a:ext cx="96012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Essential 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34747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51592" y="3520440"/>
            <a:ext cx="960120" cy="566928"/>
          </a:xfrm>
          <a:prstGeom prst="roundRect">
            <a:avLst>
              <a:gd name="adj" fmla="val 50000"/>
            </a:avLst>
          </a:prstGeom>
          <a:solidFill>
            <a:srgbClr val="121B3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31596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AA7C7"/>
                </a:solidFill>
                <a:latin typeface="Segoe UI"/>
              </a:rPr>
              <a:t>PranaCrux delivers the right information to authorized professionals — it does not make clinical decisions.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502920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0E213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523036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Emergency  →  Verify  →  Essential info  →  Audit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9AA7C7"/>
                </a:solidFill>
                <a:latin typeface="Segoe UI"/>
              </a:rPr>
              <a:t>Accessible when it matters. Accountable always.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473952"/>
            <a:ext cx="146304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4944" y="6473952"/>
            <a:ext cx="9144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86384" y="6355080"/>
            <a:ext cx="73152" cy="11887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59536" y="6355080"/>
            <a:ext cx="73152" cy="301752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32688" y="6455664"/>
            <a:ext cx="73152" cy="20116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5840" y="6455664"/>
            <a:ext cx="109728" cy="18288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15568" y="6473952"/>
            <a:ext cx="182880" cy="0"/>
          </a:xfrm>
          <a:prstGeom prst="line">
            <a:avLst/>
          </a:prstGeom>
          <a:ln w="2032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481328" y="63825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AA7C7"/>
                </a:solidFill>
                <a:latin typeface="Segoe UI"/>
              </a:rPr>
              <a:t>PranaCrux</a:t>
            </a:r>
            <a:r>
              <a:rPr sz="900" b="0">
                <a:solidFill>
                  <a:srgbClr val="6B7AA5"/>
                </a:solidFill>
                <a:latin typeface="Segoe UI"/>
              </a:rPr>
              <a:t>   Digital Health Identity &amp; Emergency Access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B7AA5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5029200"/>
            <a:ext cx="5303520" cy="5303520"/>
          </a:xfrm>
          <a:prstGeom prst="ellipse">
            <a:avLst/>
          </a:prstGeom>
          <a:noFill/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3931" y="6036868"/>
            <a:ext cx="3288182" cy="3288182"/>
          </a:xfrm>
          <a:prstGeom prst="ellipse">
            <a:avLst/>
          </a:prstGeom>
          <a:noFill/>
          <a:ln w="9525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3566160"/>
            <a:ext cx="5669280" cy="5669280"/>
          </a:xfrm>
          <a:prstGeom prst="ellipse">
            <a:avLst/>
          </a:prstGeom>
          <a:noFill/>
          <a:ln w="12700">
            <a:solidFill>
              <a:srgbClr val="142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98203" y="-2488996"/>
            <a:ext cx="3514953" cy="3514953"/>
          </a:xfrm>
          <a:prstGeom prst="ellipse">
            <a:avLst/>
          </a:prstGeom>
          <a:noFill/>
          <a:ln w="9525">
            <a:solidFill>
              <a:srgbClr val="142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62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Explore PranaCrux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8799" y="2889503"/>
            <a:ext cx="3054096" cy="3054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67" y="3090672"/>
            <a:ext cx="26517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Scan to open the live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5508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AA7C7"/>
                </a:solidFill>
                <a:latin typeface="Segoe UI"/>
              </a:rPr>
              <a:t>PranaCrux  ·  Digital Health Identity &amp; Emergency Access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58368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B7AA5"/>
                </a:solidFill>
                <a:latin typeface="Segoe UI"/>
              </a:rPr>
              <a:t>Live Demo:  https://prana-crux.vercel.app/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834640"/>
            <a:ext cx="6400800" cy="18288"/>
          </a:xfrm>
          <a:prstGeom prst="roundRect">
            <a:avLst>
              <a:gd name="adj" fmla="val 6000"/>
            </a:avLst>
          </a:prstGeom>
          <a:solidFill>
            <a:srgbClr val="2E3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